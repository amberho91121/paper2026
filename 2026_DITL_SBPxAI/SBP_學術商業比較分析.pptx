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瑜 何" userId="7aaa1fc7b81dfed4" providerId="LiveId" clId="{9E8353D8-A0F1-4E72-8A10-BFCCC15E02AB}"/>
    <pc:docChg chg="modSld">
      <pc:chgData name="嘉瑜 何" userId="7aaa1fc7b81dfed4" providerId="LiveId" clId="{9E8353D8-A0F1-4E72-8A10-BFCCC15E02AB}" dt="2026-07-30T18:38:36.692" v="3" actId="20577"/>
      <pc:docMkLst>
        <pc:docMk/>
      </pc:docMkLst>
      <pc:sldChg chg="modSp mod">
        <pc:chgData name="嘉瑜 何" userId="7aaa1fc7b81dfed4" providerId="LiveId" clId="{9E8353D8-A0F1-4E72-8A10-BFCCC15E02AB}" dt="2026-07-30T18:05:07.767" v="2" actId="1076"/>
        <pc:sldMkLst>
          <pc:docMk/>
          <pc:sldMk cId="0" sldId="261"/>
        </pc:sldMkLst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4:48.499" v="1" actId="107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嘉瑜 何" userId="7aaa1fc7b81dfed4" providerId="LiveId" clId="{9E8353D8-A0F1-4E72-8A10-BFCCC15E02AB}" dt="2026-07-30T18:05:07.767" v="2" actId="1076"/>
          <ac:spMkLst>
            <pc:docMk/>
            <pc:sldMk cId="0" sldId="261"/>
            <ac:spMk id="19" creationId="{00000000-0000-0000-0000-000000000000}"/>
          </ac:spMkLst>
        </pc:spChg>
      </pc:sldChg>
      <pc:sldChg chg="modSp mod">
        <pc:chgData name="嘉瑜 何" userId="7aaa1fc7b81dfed4" providerId="LiveId" clId="{9E8353D8-A0F1-4E72-8A10-BFCCC15E02AB}" dt="2026-07-30T18:38:36.692" v="3" actId="20577"/>
        <pc:sldMkLst>
          <pc:docMk/>
          <pc:sldMk cId="0" sldId="264"/>
        </pc:sldMkLst>
        <pc:spChg chg="mod">
          <ac:chgData name="嘉瑜 何" userId="7aaa1fc7b81dfed4" providerId="LiveId" clId="{9E8353D8-A0F1-4E72-8A10-BFCCC15E02AB}" dt="2026-07-30T18:38:36.692" v="3" actId="20577"/>
          <ac:spMkLst>
            <pc:docMk/>
            <pc:sldMk cId="0" sldId="264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64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研究範圍與案例分類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八個 SBP x AI 的來源，共四類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88136"/>
            <a:ext cx="3977640" cy="1572768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88136"/>
            <a:ext cx="100584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95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SBP 定義/架構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Bitner et al. (2008)  ·  概念框架＋案例說明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Kurtmollaiev &amp; Pedersen (2022)  ·  系統性文獻回顧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322576"/>
            <a:ext cx="36118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2257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</a:rPr>
              <a:t>奠基標準  ·  1,100+ 引用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1088136"/>
            <a:ext cx="3977640" cy="1572768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088136"/>
            <a:ext cx="100584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17957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學術研究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148132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Mortati &amp; Freitas (2026)  ·  概念框架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Luo (2025)  ·  文獻回顧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2322576"/>
            <a:ext cx="36118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322576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</a:rPr>
              <a:t>有完整方法論  ·  同儕審查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770632"/>
            <a:ext cx="3977640" cy="1572768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70632"/>
            <a:ext cx="100584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620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商業產品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1638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Miro  ·  AI Service Blueprint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Smaply  ·  服務藍圖管理系統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05072"/>
            <a:ext cx="36118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0507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</a:rPr>
              <a:t>產品部落格  ·  無公開實證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2770632"/>
            <a:ext cx="3977640" cy="1572768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2770632"/>
            <a:ext cx="100584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8620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實務經驗分享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3163824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Kendrick &amp; Gibbons (2019)  ·  NNG</a:t>
            </a:r>
            <a:endParaRPr lang="en-US" sz="9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Jodi Forlizzi  ·  CMU HCI · Medium 2025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4005072"/>
            <a:ext cx="36118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005072"/>
            <a:ext cx="3611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97706"/>
                </a:solidFill>
              </a:rPr>
              <a:t>非正式研究  ·  可信度因機構而異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81728"/>
            <a:ext cx="8138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</a:rPr>
              <a:t>⚠  AI 賦能 SBP 現階段相關學術文獻較少，多為概念框架或探討 AI 介入 UX。學術研究與商業產品論證基礎不同，引用時不要互相當佐證。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7000"/>
                  </a:srgbClr>
                </a:solidFill>
              </a:rPr>
              <a:t>00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8404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7C3AED"/>
                </a:solidFill>
              </a:rPr>
              <a:t>PART 00  ·  SBP 定義/架構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定義與架構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Bitner et al. (2008)  ·  Kurtmollaiev &amp; Pedersen (2022)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377440" cy="219456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學術  |  SBP 定義/架構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Bitner, Ostrom &amp; Morgan (2008)：SBP 業界標準格式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California Management Review 50(3)  ·  1,100+ 引用  ·  若你只讀一篇，讀這篇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53312"/>
            <a:ext cx="4023360" cy="3246120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53312"/>
            <a:ext cx="100584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630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標準格式：五元素＋三條分界線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3749040" cy="27432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783080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① 實體證據（Physical Evidence）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112264"/>
            <a:ext cx="3749040" cy="274320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12264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</a:rPr>
              <a:t>② 顧客行動（Customer Actions）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441448"/>
            <a:ext cx="3749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441448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── 互動線（Line of Interaction）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70632"/>
            <a:ext cx="3749040" cy="274320"/>
          </a:xfrm>
          <a:prstGeom prst="rect">
            <a:avLst/>
          </a:prstGeom>
          <a:solidFill>
            <a:srgbClr val="CCFBF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770632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③ 前台員工行動（Onstage）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99816"/>
            <a:ext cx="3749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099816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── 可視線（Line of Visibility）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3749040" cy="274320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429000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</a:rPr>
              <a:t>④ 後台員工行動（Backstage）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758184"/>
            <a:ext cx="37490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758184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── 內部互動線（Internal Interaction）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4087368"/>
            <a:ext cx="374904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4087368"/>
            <a:ext cx="369417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⑤ 支援流程（Support Processes）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353312"/>
            <a:ext cx="4206240" cy="3246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1463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核心論點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1810512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毫不妥協地以顧客為中心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2487168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五個跨產業質性個案佐證（非統計實驗）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3163824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建議依專案階段調整精細度：早期低→後期高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36592" y="3840480"/>
            <a:ext cx="384048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D4ED8"/>
                </a:solidFill>
              </a:rPr>
              <a:t>技術伏筆：預見「前台科技行動」列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D4ED8"/>
                </a:solidFill>
              </a:rPr>
              <a:t>── AI 行動者爭論的最早雛形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17136"/>
            <a:ext cx="8229600" cy="329184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517136"/>
            <a:ext cx="8138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C3AED"/>
                </a:solidFill>
              </a:rPr>
              <a:t>SBP 從「效率導向管理工具」（Shostack, 1984）演進為「顧客體驗導向設計工具」（Bitner et al., 2008）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377440" cy="219456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3AED"/>
                </a:solidFill>
              </a:rPr>
              <a:t>學術  |  SBP 定義/架構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Kurtmollaiev &amp; Pedersen (2022)：SBP 方法論 40 年回顧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International Journal of Management Reviews  ·  系統性文獻回顧（非第一手資料蒐集）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研究性質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系統性文獻回顧（Systematic Literature Review），未開發工具或進行使用者測試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研究範圍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回顧近 40 年 SBP 在服務設計、服務創新、服務管理領域的學術發展；整理推動與阻礙採用的關鍵因素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核心發現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SBP 的跨部門對齊功能仍是核心價值；方法論本身穩定，但數位化服務帶來新挑戰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主要限制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純文獻回顧，無第一手資料；對「AI 如何重塑 SBP」未做正式探討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096512"/>
            <a:ext cx="8229600" cy="11887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4187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引用建議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Kurtmollaiev &amp; Pedersen（2022）適合作為「SBP 方法論發展史的文獻背景」引用，可說明 SBP 在哪些情境下有效、在哪些情境下失效——引用時請標註「系統性文獻回顧」而非「實證研究」。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7000"/>
                  </a:srgbClr>
                </a:solidFill>
              </a:rPr>
              <a:t>01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84048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</a:rPr>
              <a:t>PART 01  ·  學術研究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學術研究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Mortati &amp; Freitas（2026）·  Luo（2025）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</a:rPr>
              <a:t>學術  |  概念框架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Mortati &amp; Freitas (2026)：人機混合服務接觸框架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Journal of Service Research (SAGE)  ·  Politecnico di Milano  ·  純理論綜合，無實證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08760"/>
            <a:ext cx="1902460" cy="1709928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92372"/>
            <a:ext cx="176283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4ED8"/>
                </a:solidFill>
              </a:rPr>
              <a:t>Human-to-Human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927294"/>
            <a:ext cx="1762830" cy="117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AI 隱身後台輔助人類決策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（ex. 資料分析輔助醫師問診）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爭議：AI 是否應向顧客揭露？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2598" y="1508760"/>
            <a:ext cx="1902460" cy="1709928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2326" y="1692372"/>
            <a:ext cx="176283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Human-to-AI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02326" y="1927294"/>
            <a:ext cx="1762830" cy="117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AI 代替人類行動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（ex. Google Duplex 代打電話訂位）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課責性懸而未解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1902460" cy="1709928"/>
          </a:xfrm>
          <a:prstGeom prst="rect">
            <a:avLst/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292572"/>
            <a:ext cx="176283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AI-to-Human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527494"/>
            <a:ext cx="1762830" cy="117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AI 是提供者、人是使用者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（ex. Amazon/Netflix 推薦系統）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目前研究最成熟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2598" y="3108960"/>
            <a:ext cx="1902460" cy="1709928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2326" y="3292572"/>
            <a:ext cx="1762830" cy="273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AI-to-AI（interAI）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02326" y="3527494"/>
            <a:ext cx="1762830" cy="117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演算法之間互動、無人類介入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（ex. 紅綠燈號控制系統）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1E293B"/>
                </a:solidFill>
              </a:rPr>
              <a:t>可課責性完全懸而未解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109728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使用者：人類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03220" y="1097280"/>
            <a:ext cx="2491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使用者：AI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40680" y="1353312"/>
            <a:ext cx="3383280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40680" y="1353312"/>
            <a:ext cx="100584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14447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設計師角色的轉變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17647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角色：</a:t>
            </a:r>
            <a:r>
              <a:rPr lang="en-US" sz="950" dirty="0">
                <a:solidFill>
                  <a:srgbClr val="1E293B"/>
                </a:solidFill>
              </a:rPr>
              <a:t>從「創造者」→「協調者／編輯者／守門人」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流程：</a:t>
            </a:r>
            <a:r>
              <a:rPr lang="en-US" sz="950" dirty="0">
                <a:solidFill>
                  <a:srgbClr val="1E293B"/>
                </a:solidFill>
              </a:rPr>
              <a:t>從線性 → 反覆生命週期工作流；需 prompt engineering</a:t>
            </a:r>
            <a:endParaRPr lang="en-US" sz="9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產出：</a:t>
            </a:r>
            <a:r>
              <a:rPr lang="en-US" sz="950" dirty="0">
                <a:solidFill>
                  <a:srgbClr val="1E293B"/>
                </a:solidFill>
              </a:rPr>
              <a:t>從人類介面 → 機器可讀資料結構＋治理協議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2980944"/>
            <a:ext cx="3383280" cy="1508760"/>
          </a:xfrm>
          <a:prstGeom prst="rect">
            <a:avLst/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0680" y="2980944"/>
            <a:ext cx="100584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30723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⚠  引用注意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33649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框架仍偏概念層次；四種互動類型如何轉譯成視覺符號，論文本身也承認是開放問題。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框架可作為分析工具引用，不建議作為已驗證結論引用。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D4ED8"/>
                </a:solidFill>
              </a:rPr>
              <a:t>學術  |  文獻回顧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 (2025)：Designing With AI — 系統性文獻回顧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Advances in Human-Computer Interaction  ·  系統性文獻回顧，非實證工具開發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53312"/>
          <a:ext cx="8229600" cy="28346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研究性質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系統性文獻回顧（SLR），未開發工具或進行使用者測試，屬純文獻整合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研究範圍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涵蓋 HCI、服務設計、UX 研究領域中「設計師如何與 AI 協作」的學術文獻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核心發現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作為設計工具仍處於早期整合階段；多數研究偏重生成式 AI 應用，對 AI 介入設計流程的長期影響研究不足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與 SBP 的關聯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點出 AI 在設計流程中的輔助角色（而非主導角色），為 SBP 工具設計提供理論背景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核心限制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純文獻回顧，無一手資料；所提框架尚待實證驗證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389120"/>
            <a:ext cx="8229600" cy="384048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389120"/>
            <a:ext cx="8138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4ED8"/>
                </a:solidFill>
              </a:rPr>
              <a:t>引用建議：Luo（2025）適合作為「AI 介入設計流程的學術背景」引用；不宜引用為具體 SBP 工具效益的依據（因為並未針對 SBP 工具做實證測試）。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7000"/>
                  </a:srgbClr>
                </a:solidFill>
              </a:rPr>
              <a:t>02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84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</a:rPr>
              <a:t>PART 02  ·  商業產品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商業產品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Miro  ·  Smaply  ·  以下所有來源全為內容行銷，無公開量化實證資料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19456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9488"/>
                </a:solidFill>
              </a:rPr>
              <a:t>商業產品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商業工具：Miro 與 Smaply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兩大主流 AI 服務藍圖工具，皆無公開實證資料——引用時請標註「業界作法」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53312"/>
            <a:ext cx="4023360" cy="3063240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100584" cy="3063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Miro — AI Service Blueprint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37490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0D9488"/>
                </a:solidFill>
              </a:rPr>
              <a:t>策略：把藍圖定位成「研究資料的下游產物」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37490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輸入端：OKR、CJM、Persona、既有流程文件、CRM 資料、系統日誌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770632"/>
            <a:ext cx="37490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輸出端：Current/Future State SBP  ·  Pain Points &amp; Opportunities  ·  Action Plan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73552"/>
            <a:ext cx="37490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優勢：協作與工作坊場景最成熟；輸入端接受非結構化素材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776472"/>
            <a:ext cx="374904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限制：行銷語言遠超實證；多人編輯後藍圖常失去三線結構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353312"/>
            <a:ext cx="4206240" cy="30632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Smaply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764792"/>
            <a:ext cx="38404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策略：把痛點、機會、解方變成可評分、可追蹤的實體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明確支援 SBP 工作：在自動化前，幫助區分前台體驗與後台營運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36592" y="2770632"/>
            <a:ext cx="38404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AI 研究綜整：可從原始證據追溯到決策（比 Miro 更結構化）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6592" y="3273552"/>
            <a:ext cx="38404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優勢：比通用畫布更嚴謹地維持三線結構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3776472"/>
            <a:ext cx="3840480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限制：導入成本高、學習曲線陡；小團隊通常撐不起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329184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572000"/>
            <a:ext cx="8138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9488"/>
                </a:solidFill>
              </a:rPr>
              <a:t>💡 真正有價值的洞察：傳統藍圖在有人想起要更新之前都是靜態的——AI 藍圖應隨新的顧客資料、績效指標與營運變動持續演進，否則只是又一份沒人看的文件。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7000"/>
                  </a:srgbClr>
                </a:solidFill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8404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97706"/>
                </a:solidFill>
              </a:rPr>
              <a:t>PART 03  ·  實務經驗分享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實務經驗分享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Kendrick &amp; Gibbons (2019) NNG  ·  Jodi Forlizzi (Medium 2025)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實務經驗分享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4297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實務觀點：NNG 與 Jodi Forlizzi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235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最具方法論可信度的實務來源  ·  NNG 的內容基礎是對實務者的調查研究，不是單一顧問的意見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4358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53312"/>
            <a:ext cx="4023360" cy="3154680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53312"/>
            <a:ext cx="100584" cy="3154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Kendrick &amp; Gibbons (2019) — NNG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764792"/>
            <a:ext cx="3749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五步驟：找到支持 → 定義目標 → 蒐集研究 → 繪製藍圖（先低精細度）→ 精煉與散布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3749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三個 Scope：Small（≤2 接觸點）/ Medium（2–5）/ Large（5+）</a:t>
            </a:r>
            <a:endParaRPr lang="en-US" sz="9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中小範圍對多數情境最適合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807208"/>
            <a:ext cx="3749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精細度必須對應設計階段：越早期越低；早期重點是對齊認知，後期是溝通願景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3749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藍圖是敘事，不是清單：工作坊結束時一定會留下知識缺口，不會產出完整精緻的藍圖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37490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過程與產出物同等重要：製作過程本身促成跨職能溝通與共識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353312"/>
            <a:ext cx="4206240" cy="3154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1444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Jodi Forlizzi — CMU HCI (Medium 2025)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36592" y="1764792"/>
            <a:ext cx="3840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b="1" dirty="0">
                <a:solidFill>
                  <a:srgbClr val="1D4ED8"/>
                </a:solidFill>
              </a:rPr>
              <a:t>服務三代：Narrow AI → 生成式 AI（co-pilot）→ Agentic AI（自主執行）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36592" y="2404872"/>
            <a:ext cx="3840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核心問題（開放問題，非結論）：「服務藍圖在這裡要怎麼運作？當大部分流程可能是自主的，把它模型化還有用嗎？」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36592" y="3044952"/>
            <a:ext cx="3840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她的立場：藍圖與概念模型仍然相關，但需要修改——並希望整個社群一起研究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36592" y="3685032"/>
            <a:ext cx="3840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⚠ 重要澄清：坊間引申「AI agent 需要第三種泳道」是二次來源的說法，不是她的原話，引用時請注意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329184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63440"/>
            <a:ext cx="8138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97706"/>
                </a:solidFill>
              </a:rPr>
              <a:t>引用建議：NNG 為實務調查研究（較高可信度）；Forlizzi 為立場性學術隨筆（開放問題，非結論）——兩者引用時請分開標註。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18288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0" b="1" dirty="0">
                <a:solidFill>
                  <a:srgbClr val="FFFFFF">
                    <a:alpha val="7000"/>
                  </a:srgbClr>
                </a:solidFill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38404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103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D97706"/>
                </a:solidFill>
              </a:rPr>
              <a:t>PART 04  ·  跨類別比較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95728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跨類別比較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資料真實性  ·  實證嚴謹度落差  ·  Generative AI vs Agentic AI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學術與商業的落差，以及 AI 類型的分野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資料真實性光譜  ·  實證嚴謹度落差  ·  Generative AI vs Agentic 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33856"/>
            <a:ext cx="8229600" cy="182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33856"/>
            <a:ext cx="4114800" cy="182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33856"/>
            <a:ext cx="1828800" cy="1828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35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59669"/>
                </a:solidFill>
              </a:rPr>
              <a:t>完整真實一手資料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0" y="13350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</a:rPr>
              <a:t>整合既有企業資料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3680" y="13350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DC2626"/>
                </a:solidFill>
              </a:rPr>
              <a:t>行銷宣稱／概念推論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" y="1536192"/>
            <a:ext cx="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19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</a:rPr>
              <a:t>Kurtmollaiev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</a:rPr>
              <a:t>Pedersen (2022)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51760" y="1536192"/>
            <a:ext cx="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819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59669"/>
                </a:solidFill>
              </a:rPr>
              <a:t>NNG（調查研究）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536192"/>
            <a:ext cx="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819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Miro（CRM/日誌）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Luo（文獻整合）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66560" y="1536192"/>
            <a:ext cx="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819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Smaply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97706"/>
                </a:solidFill>
              </a:rPr>
              <a:t>（產品部落格）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138160" y="1536192"/>
            <a:ext cx="0" cy="27432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0" y="18196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Mortati &amp; Freitas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2626"/>
                </a:solidFill>
              </a:rPr>
              <a:t>（概念框架）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688336"/>
            <a:ext cx="4069080" cy="2377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688336"/>
            <a:ext cx="100584" cy="2377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實證嚴謹度落差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099816"/>
            <a:ext cx="3749040" cy="1874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目前無正式對照實驗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六案例中沒有一篇做了統計對照實驗——引用「AI 讓 SBP 更有效率」時，需說明來源的方法論層次。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1E293B"/>
                </a:solidFill>
              </a:rPr>
              <a:t>引用層次：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· Kurtmollaiev：系統性文獻回顧（背景）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· Mortati &amp; Freitas：概念框架（分析工具）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· Miro / Smaply：業界觀察（產品描述）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688336"/>
            <a:ext cx="4206240" cy="2377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688336"/>
            <a:ext cx="100584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Generative AI vs Agentic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36592" y="3099816"/>
            <a:ext cx="3840480" cy="1874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2563EB"/>
                </a:solidFill>
              </a:rPr>
              <a:t>目前全部 SBP 工具 → Generative AI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被動回應使用者輸入，每步都需人工觸發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（Miro、Smaply、Luo 文獻描述的 AI 皆屬此類）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D97706"/>
                </a:solidFill>
              </a:rPr>
              <a:t>Agentic AI → SBP 領域尚無成熟實證案例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Miro 提及「AI agent 自主優化服務流程」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1E293B"/>
                </a:solidFill>
              </a:rPr>
              <a:t>——明確歸類為「即將到來」的未來展望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175504"/>
            <a:ext cx="8229600" cy="329184"/>
          </a:xfrm>
          <a:prstGeom prst="rect">
            <a:avLst/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175504"/>
            <a:ext cx="8138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結論：目前尚未出現真正符合「agentic」定義且有實證資料佐證的自動化 SBP 工具——這正是未來研究方向的缺口。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結論與引用建議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八個來源的方法論嚴謹度差異極大——正式研究報告中請務必區分「已驗證實證資料」與「業界觀察」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88136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Bitner et al. (2008)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已驗證的標準格式（1,100+ 引用）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界定藍圖的五元素三線結構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Kurtmollaiev &amp; Pedersen (2022)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系統性文獻回顧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SBP 方法論發展史的文獻背景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Mortati &amp; Freitas (2026)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概念性框架（非實證）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分析人機混合四種互動類型；設計師角色轉型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Luo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D4E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系統性文獻回顧（背景引用）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設計與 AI 整合的學術背景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NNG（Kendrick &amp; Gibbons, 2019）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實務調查研究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說明製作流程與工作坊設計；範圍選擇建議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Forlizzi (2025)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立場性學術隨筆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討論 agentic AI 未來方向（開放問題，非結論）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Miro / Smaply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業界作法／產品觀察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說明市場現有解決方案取向（不可當實證引用）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26280"/>
            <a:ext cx="8229600" cy="329184"/>
          </a:xfrm>
          <a:prstGeom prst="rect">
            <a:avLst/>
          </a:prstGeom>
          <a:solidFill>
            <a:srgbClr val="FFF1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526280"/>
            <a:ext cx="813816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⚠  正式研究報告中請務必區分「已驗證的實證資料」與「業界觀察／個人心得」，避免把行銷說法誤當成研究結論引用。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現行 UX 設計師 SBP 執行方式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從對 SBP 的認知，到溝通願景——實務執行的五個階段（綜合 NNG, Bitner et al., thehuman2ai.com）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88136"/>
            <a:ext cx="1572768" cy="3017520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88136"/>
            <a:ext cx="157276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064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59105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7C3AED"/>
                </a:solidFill>
              </a:rPr>
              <a:t>認知與定位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7C3AED"/>
                </a:solidFill>
              </a:rPr>
              <a:t>Awareness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112264"/>
            <a:ext cx="1389888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理解 SBP 不是「把流程畫出來」，而是讓組織對顧客體驗建立共同認知的工具。釐清這張圖是給誰看：內部對齊？利害關係人說明？設計規格？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47088" y="2551176"/>
            <a:ext cx="36576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83664" y="1088136"/>
            <a:ext cx="1572768" cy="301752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83664" y="1088136"/>
            <a:ext cx="157276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11064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56816" y="159105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563EB"/>
                </a:solidFill>
              </a:rPr>
              <a:t>範圍界定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2563EB"/>
                </a:solidFill>
              </a:rPr>
              <a:t>Scoping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75104" y="2112264"/>
            <a:ext cx="1389888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選擇適當範圍：Small（≤2 接觸點）/ Medium（2–5）/ Large（5+）。新手最大失敗點：範圍太大、什麼都放，最後無法聚焦。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56432" y="2551176"/>
            <a:ext cx="36576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93008" y="1088136"/>
            <a:ext cx="1572768" cy="3017520"/>
          </a:xfrm>
          <a:prstGeom prst="rect">
            <a:avLst/>
          </a:prstGeom>
          <a:solidFill>
            <a:srgbClr val="F0FDFA"/>
          </a:solidFill>
          <a:ln w="9525">
            <a:solidFill>
              <a:srgbClr val="5EEAD4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93008" y="1088136"/>
            <a:ext cx="157276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11064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66160" y="159105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D9488"/>
                </a:solidFill>
              </a:rPr>
              <a:t>研究蒐集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D9488"/>
                </a:solidFill>
              </a:rPr>
              <a:t>Research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84448" y="2112264"/>
            <a:ext cx="1389888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同時訪談顧客端（5–10 人）與員工端（5–10 人）。工作觀察比訪談更能捕捉「文件以外的實際流程」。AI 工具可整理逐字稿、比對落差。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065776" y="2551176"/>
            <a:ext cx="36576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1088136"/>
            <a:ext cx="1572768" cy="3017520"/>
          </a:xfrm>
          <a:prstGeom prst="rect">
            <a:avLst/>
          </a:prstGeom>
          <a:solidFill>
            <a:srgbClr val="FFFBEB"/>
          </a:solidFill>
          <a:ln w="9525">
            <a:solidFill>
              <a:srgbClr val="FCD34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02352" y="1088136"/>
            <a:ext cx="157276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11064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75504" y="159105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D97706"/>
                </a:solidFill>
              </a:rPr>
              <a:t>製圖與迭代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D97706"/>
                </a:solidFill>
              </a:rPr>
              <a:t>Blueprinting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193792" y="2112264"/>
            <a:ext cx="1389888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先從低保真便利貼版本開始——工作坊結束時不會產出完整藍圖，留下知識缺口是正常的。找 2–3 位第一線員工驗證是否符合實際運作。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75120" y="2551176"/>
            <a:ext cx="36576" cy="914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11696" y="1088136"/>
            <a:ext cx="1572768" cy="3017520"/>
          </a:xfrm>
          <a:prstGeom prst="rect">
            <a:avLst/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1088136"/>
            <a:ext cx="1572768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110642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⑤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784848" y="1591056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59669"/>
                </a:solidFill>
              </a:rPr>
              <a:t>溝通願景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59669"/>
                </a:solidFill>
              </a:rPr>
              <a:t>Communicating Vision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803136" y="2112264"/>
            <a:ext cx="1389888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850" dirty="0">
                <a:solidFill>
                  <a:srgbClr val="1E293B"/>
                </a:solidFill>
              </a:rPr>
              <a:t>不只呈現現況（Current State），也要呈現未來目標（Future State）。以顧客旅程為主軸說故事。AI 在後台流程中標示可優化的斷點，但決策點建議維持人工判斷。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4215384"/>
            <a:ext cx="8229600" cy="384048"/>
          </a:xfrm>
          <a:prstGeom prst="rect">
            <a:avLst/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215384"/>
            <a:ext cx="813816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59669"/>
                </a:solidFill>
              </a:rPr>
              <a:t>🔑 設計師的核心價值在於判斷「這條能見線該畫在哪裡」——這是策略判斷，不是 AI 能代替的。AI 適合加速前後製；工作坊本身的核心仍在於讓真人講出跟文件不一致的真相。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1288</Words>
  <Application>Microsoft Office PowerPoint</Application>
  <PresentationFormat>如螢幕大小 (16:9)</PresentationFormat>
  <Paragraphs>238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製作服務藍圖（SBP）學術文獻與商業案例比較分析</dc:title>
  <dc:subject>PptxGenJS Presentation</dc:subject>
  <dc:creator>PptxGenJS</dc:creator>
  <cp:lastModifiedBy>嘉瑜 何</cp:lastModifiedBy>
  <cp:revision>1</cp:revision>
  <dcterms:created xsi:type="dcterms:W3CDTF">2026-07-30T15:58:01Z</dcterms:created>
  <dcterms:modified xsi:type="dcterms:W3CDTF">2026-07-30T18:38:47Z</dcterms:modified>
</cp:coreProperties>
</file>